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1" r:id="rId4"/>
    <p:sldId id="262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59339" autoAdjust="0"/>
  </p:normalViewPr>
  <p:slideViewPr>
    <p:cSldViewPr snapToGrid="0">
      <p:cViewPr varScale="1">
        <p:scale>
          <a:sx n="40" d="100"/>
          <a:sy n="40" d="100"/>
        </p:scale>
        <p:origin x="18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B7DFB-6E60-462B-A7BA-9E319C99A2E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C11D0-E80B-415E-B30E-2C9A460A7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603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C11D0-E80B-415E-B30E-2C9A460A7D4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274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70523-F76E-45B1-9CFE-ED5183160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B76A2-69FE-0480-507A-2E8C463E0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8C807-5343-95FE-9A57-16B66ECB5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CEB39-CB95-CD57-B12B-279147824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C11D0-E80B-415E-B30E-2C9A460A7D4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377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1FC4-3C50-AD67-5383-DF4A9973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4EB41-60C5-92D3-4A81-D8DDE0422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92137-E93F-6110-A520-39B6DE291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AA681-866B-1F9A-3A4C-728226565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C11D0-E80B-415E-B30E-2C9A460A7D4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666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FAC5-837E-2FBD-724D-E79BEBE3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759DE-0B99-2E5A-3ABE-63F01702E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8A66E-E0DD-A62A-F190-A12A9951D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5E274-5304-246A-FF04-997DC0640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C11D0-E80B-415E-B30E-2C9A460A7D4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673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FF37-1746-CAF2-DFDA-C72A073B6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6B513-5405-F3DD-1930-3BCA36E0B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5A264-BBE6-CFBB-7B96-B5C3C1FE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E2CC0-DD6E-D1EE-BFAB-CBBBD133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51B90-DE36-B1DA-B101-67EC56A3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2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3D074-6B31-4BB6-B284-D94B3C00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A367E-EA48-BEC3-0219-9412C0121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237B-77D9-0BF2-047F-C0BD8AB8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3E015-915D-1A3D-F0D0-30A45D3B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4BC3-24C9-1BDE-B4C0-4746E3A97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346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8378-9200-8BED-BBE6-E32D8413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CC803-3B8E-0689-7CA1-B1A2A0E09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B33FF-D635-581E-08CF-EC8B2873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E4422-D0BA-1DA5-8957-89906937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A544E-A87F-D9CC-9BA6-CD7FF939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72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362A-8588-90F3-2E97-A52DE80A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B8E5-535D-66EE-453F-CC6F068E1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EE1F8-A210-BAC1-FAD5-4D0575D44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F8B96-C0AC-55A1-7807-32B3B5C9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D099B-51B5-5F68-C078-2C03BB58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4FDA8-1E25-308F-B873-50A87F4B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949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8533-2DE9-F7CD-4318-83D68435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C77C0-5331-AA28-EEA9-54A1F7C9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126F7-F3D6-5F14-403A-F674231F2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340D7E-668E-5820-008D-9F05F9574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1273C9-4C51-DCE2-B2C2-F44594DE0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EA9608-C42D-CADD-1C52-DD1AF9013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FE280-70ED-CE3C-8D7C-36213478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AF5DE-7C66-B2C1-FAB2-2572B1F4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34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1209-30D3-20BA-F862-2291ADDCB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E035C-36F5-9705-7E2F-3F8E7D98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F9453-4834-6E15-B26C-B43275C30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C4B5F-B946-0312-C909-42D17FE0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53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F7E60E-150F-7C2F-A828-14478B609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D121C-35CF-7283-4F89-9918CD04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61AFB-044B-79FA-354D-BA601CCB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649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A0BD-7167-84E9-86A3-D2E71C2AC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AD674-028A-20FB-B446-A5C3B9E67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4F112-38D0-EDAF-CC15-94F314BE2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F8AC8-E10F-3BCB-02EC-C5BB9D66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DD223-E51B-FD7C-3C5B-77B2E4CD9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93616-5250-F814-0F4D-C7898552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25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68CF-9423-8FE3-118A-FD5D0BD22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E4B30-553F-4E1D-DBF3-74FB49DA2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DEE2E-4F96-FA93-1C7F-27013CF0A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AD3E6-7335-36D8-712F-1308F3289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3F3F7-6B0D-A420-215B-09DDD1A59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00F2C-3FE3-9D7C-7E09-B4079473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522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267A-995E-34A4-5F1A-50753D258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4875C-E063-3F96-8E0C-B25E541D9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DE21A-3A34-FE97-0B50-0DED05DF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C34E9-CA16-3936-2D6A-ED20AB31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42703-275A-308E-7559-AE6B3772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9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51015-E0E5-8626-6D3F-2D7E63C035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0D7E1-7FB7-D7E1-D2ED-330EFB5C5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A54D-4439-09CB-9D54-AD8D139A3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24529-8CCE-1358-EEF7-D2E7EC68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9D791-EAA9-E5FD-5EFC-902FAD3DE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53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5F908-756C-5339-CA4A-B3316795F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9BF92-9526-A1EF-DE1D-804D4B87D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3148A-C9CB-FA3D-4312-E7A9ECD64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9A7B37-C285-4B8A-8023-18651085E22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D29CD-4E71-B735-628F-8B3657496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F578C-78C4-0A6D-3041-EA59A6814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0C261-6417-477D-91B2-825D4CDF2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80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C6B3-DBC1-F2BA-3E77-B2C9FB36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86A1B-6461-3B3F-7053-4F3872FF4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BD36A8-65D1-857C-FBED-5978F2A8EC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2" r="1102"/>
          <a:stretch>
            <a:fillRect/>
          </a:stretch>
        </p:blipFill>
        <p:spPr>
          <a:xfrm>
            <a:off x="0" y="33301"/>
            <a:ext cx="12192000" cy="682469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1F0A89E1-D0D2-8A7E-FE57-762991C247A0}"/>
              </a:ext>
            </a:extLst>
          </p:cNvPr>
          <p:cNvSpPr txBox="1">
            <a:spLocks/>
          </p:cNvSpPr>
          <p:nvPr/>
        </p:nvSpPr>
        <p:spPr>
          <a:xfrm>
            <a:off x="725773" y="1367852"/>
            <a:ext cx="10740453" cy="5677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10000"/>
              </a:lnSpc>
              <a:buNone/>
            </a:pPr>
            <a:r>
              <a:rPr lang="en-GB" sz="32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Name: Swetha</a:t>
            </a:r>
            <a:br>
              <a:rPr lang="en-GB" sz="32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32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Roll Number :25MAS1010</a:t>
            </a:r>
          </a:p>
          <a:p>
            <a:pPr marL="0" indent="0" algn="ctr">
              <a:lnSpc>
                <a:spcPct val="210000"/>
              </a:lnSpc>
              <a:buNone/>
            </a:pPr>
            <a:r>
              <a:rPr lang="en-GB" sz="32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Institution: Vit Chennai</a:t>
            </a:r>
          </a:p>
          <a:p>
            <a:pPr marL="0" indent="0" algn="ctr">
              <a:lnSpc>
                <a:spcPct val="210000"/>
              </a:lnSpc>
              <a:buNone/>
            </a:pPr>
            <a:r>
              <a:rPr lang="en-GB" sz="32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: </a:t>
            </a:r>
            <a:r>
              <a:rPr lang="en-GB" sz="3200" dirty="0" err="1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M.Tech</a:t>
            </a:r>
            <a:r>
              <a:rPr lang="en-GB" sz="32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(Artificial Intelligence and Data Science)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53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C83FB-1A77-A28F-D7FF-8923C055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A72EE-F400-A48D-81FE-AF239D907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23465"/>
            <a:ext cx="11772900" cy="13187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</a:rPr>
              <a:t>Project 1: </a:t>
            </a:r>
            <a:r>
              <a:rPr lang="en-GB" sz="3200" b="1" dirty="0" err="1">
                <a:solidFill>
                  <a:schemeClr val="accent4">
                    <a:lumMod val="50000"/>
                  </a:schemeClr>
                </a:solidFill>
              </a:rPr>
              <a:t>AeroHydro</a:t>
            </a: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</a:rPr>
              <a:t>-PINN :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Multimodal Physics-AI for Wake-Aware Hydrogen Optimization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420B81-7FEF-720E-7797-F33B53E906A2}"/>
              </a:ext>
            </a:extLst>
          </p:cNvPr>
          <p:cNvSpPr/>
          <p:nvPr/>
        </p:nvSpPr>
        <p:spPr>
          <a:xfrm>
            <a:off x="123988" y="1342193"/>
            <a:ext cx="5961678" cy="532207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CDADE3B-2956-3937-76FE-C164FCCF420D}"/>
              </a:ext>
            </a:extLst>
          </p:cNvPr>
          <p:cNvSpPr txBox="1">
            <a:spLocks/>
          </p:cNvSpPr>
          <p:nvPr/>
        </p:nvSpPr>
        <p:spPr>
          <a:xfrm>
            <a:off x="152401" y="1342194"/>
            <a:ext cx="5858359" cy="5322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3000" b="1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Green hydrogen production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 using renewable electricity depends on the availability and stability of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renewable power. In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 wind-powered systems,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turbine wake effects 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reduce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wind speed 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and available power for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downstream turbines. Changing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 wind conditions therefore create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fluctuations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 in power supplied to the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electrolyzer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Conventional 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data-driven models </a:t>
            </a: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may produce that do not fully respect the underlying 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physical relationships.</a:t>
            </a:r>
            <a:endParaRPr lang="en-GB" sz="2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2E9C27-B7F3-3A41-BB31-38B76CE86C84}"/>
              </a:ext>
            </a:extLst>
          </p:cNvPr>
          <p:cNvSpPr/>
          <p:nvPr/>
        </p:nvSpPr>
        <p:spPr>
          <a:xfrm>
            <a:off x="6209654" y="1342193"/>
            <a:ext cx="5829945" cy="532207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C8912D-7EDA-C009-1162-AF45019C0656}"/>
              </a:ext>
            </a:extLst>
          </p:cNvPr>
          <p:cNvSpPr txBox="1"/>
          <p:nvPr/>
        </p:nvSpPr>
        <p:spPr>
          <a:xfrm>
            <a:off x="6209654" y="1342193"/>
            <a:ext cx="5829945" cy="5720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1">
                    <a:lumMod val="75000"/>
                  </a:schemeClr>
                </a:solidFill>
              </a:rPr>
              <a:t>OBJECTIVES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950" dirty="0">
                <a:solidFill>
                  <a:schemeClr val="accent1">
                    <a:lumMod val="75000"/>
                  </a:schemeClr>
                </a:solidFill>
              </a:rPr>
              <a:t>To</a:t>
            </a:r>
            <a:r>
              <a:rPr lang="en-GB" sz="195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GB" sz="1950" dirty="0">
                <a:solidFill>
                  <a:schemeClr val="accent1">
                    <a:lumMod val="75000"/>
                  </a:schemeClr>
                </a:solidFill>
              </a:rPr>
              <a:t>Predict wind conditions and </a:t>
            </a:r>
            <a:r>
              <a:rPr lang="en-GB" sz="1950" b="1" dirty="0">
                <a:solidFill>
                  <a:schemeClr val="accent1">
                    <a:lumMod val="75000"/>
                  </a:schemeClr>
                </a:solidFill>
              </a:rPr>
              <a:t>turbine wake effects </a:t>
            </a:r>
            <a:r>
              <a:rPr lang="en-GB" sz="1950" dirty="0">
                <a:solidFill>
                  <a:schemeClr val="accent1">
                    <a:lumMod val="75000"/>
                  </a:schemeClr>
                </a:solidFill>
              </a:rPr>
              <a:t>using </a:t>
            </a:r>
            <a:r>
              <a:rPr lang="en-GB" sz="1950" b="1" dirty="0">
                <a:solidFill>
                  <a:schemeClr val="accent1">
                    <a:lumMod val="75000"/>
                  </a:schemeClr>
                </a:solidFill>
              </a:rPr>
              <a:t>physics informed deep learning</a:t>
            </a:r>
            <a:r>
              <a:rPr lang="en-GB" sz="195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950" dirty="0">
                <a:solidFill>
                  <a:schemeClr val="accent1">
                    <a:lumMod val="75000"/>
                  </a:schemeClr>
                </a:solidFill>
              </a:rPr>
              <a:t>Combine </a:t>
            </a:r>
            <a:r>
              <a:rPr lang="en-GB" sz="1950" b="1" dirty="0">
                <a:solidFill>
                  <a:schemeClr val="accent1">
                    <a:lumMod val="75000"/>
                  </a:schemeClr>
                </a:solidFill>
              </a:rPr>
              <a:t>weather ,wind , turbine and power-generation data </a:t>
            </a:r>
            <a:r>
              <a:rPr lang="en-GB" sz="1950" dirty="0">
                <a:solidFill>
                  <a:schemeClr val="accent1">
                    <a:lumMod val="75000"/>
                  </a:schemeClr>
                </a:solidFill>
              </a:rPr>
              <a:t>using multimodal model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950" dirty="0">
                <a:solidFill>
                  <a:schemeClr val="accent1">
                    <a:lumMod val="75000"/>
                  </a:schemeClr>
                </a:solidFill>
              </a:rPr>
              <a:t>Incorporate physical constraints into neural network using </a:t>
            </a:r>
            <a:r>
              <a:rPr lang="en-GB" sz="1950" b="1" dirty="0">
                <a:solidFill>
                  <a:schemeClr val="accent1">
                    <a:lumMod val="75000"/>
                  </a:schemeClr>
                </a:solidFill>
              </a:rPr>
              <a:t>Physics-Informed Neural Network.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950" dirty="0">
                <a:solidFill>
                  <a:schemeClr val="accent1">
                    <a:lumMod val="75000"/>
                  </a:schemeClr>
                </a:solidFill>
              </a:rPr>
              <a:t>To Predict renewable power available for </a:t>
            </a:r>
            <a:r>
              <a:rPr lang="en-GB" sz="1950" b="1" dirty="0">
                <a:solidFill>
                  <a:schemeClr val="accent1">
                    <a:lumMod val="75000"/>
                  </a:schemeClr>
                </a:solidFill>
              </a:rPr>
              <a:t>hydrogen production </a:t>
            </a:r>
            <a:r>
              <a:rPr lang="en-GB" sz="1950" dirty="0">
                <a:solidFill>
                  <a:schemeClr val="accent1">
                    <a:lumMod val="75000"/>
                  </a:schemeClr>
                </a:solidFill>
              </a:rPr>
              <a:t>and dynamically </a:t>
            </a:r>
            <a:r>
              <a:rPr lang="en-GB" sz="1950" b="1" dirty="0">
                <a:solidFill>
                  <a:schemeClr val="accent1">
                    <a:lumMod val="75000"/>
                  </a:schemeClr>
                </a:solidFill>
              </a:rPr>
              <a:t>optimize electrolyzer loading </a:t>
            </a:r>
            <a:r>
              <a:rPr lang="en-GB" sz="1950" dirty="0">
                <a:solidFill>
                  <a:schemeClr val="accent1">
                    <a:lumMod val="75000"/>
                  </a:schemeClr>
                </a:solidFill>
              </a:rPr>
              <a:t>based on predicted renewable power.</a:t>
            </a:r>
          </a:p>
          <a:p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32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34480-B63D-B81B-3B13-31432FC5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D593D1-A82B-B66C-6615-1CEA8F119FDF}"/>
              </a:ext>
            </a:extLst>
          </p:cNvPr>
          <p:cNvSpPr/>
          <p:nvPr/>
        </p:nvSpPr>
        <p:spPr>
          <a:xfrm>
            <a:off x="152401" y="1"/>
            <a:ext cx="5961678" cy="48791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148858D-A399-550D-22BE-CB471576256F}"/>
              </a:ext>
            </a:extLst>
          </p:cNvPr>
          <p:cNvSpPr txBox="1">
            <a:spLocks/>
          </p:cNvSpPr>
          <p:nvPr/>
        </p:nvSpPr>
        <p:spPr>
          <a:xfrm>
            <a:off x="284134" y="-30559"/>
            <a:ext cx="5829945" cy="47233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DATASETS</a:t>
            </a:r>
          </a:p>
          <a:p>
            <a:pPr marL="0" lvl="0" indent="0" fontAlgn="t"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NREL FLORIS Wind Farm Dataset</a:t>
            </a: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: Wind speed, wind direction, turbine coordinates, wake loss measurements, power output.</a:t>
            </a:r>
          </a:p>
          <a:p>
            <a:pPr marL="0" lvl="0" indent="0" fontAlgn="t"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ERA5 Weather Dataset</a:t>
            </a: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: Temperature, air pressure, humidity, air density, atmospheric stability.</a:t>
            </a:r>
          </a:p>
          <a:p>
            <a:pPr marL="0" lvl="0" indent="0" fontAlgn="t"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Electrolyzer Performance Dataset</a:t>
            </a: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: Hydrogen production rate, electrolyzer efficiency, energy consumption, degradation metrics.</a:t>
            </a:r>
          </a:p>
          <a:p>
            <a:pPr marL="0" lvl="0" indent="0" fontAlgn="t"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SCADA Turbine Sensor Data</a:t>
            </a: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: Rotor RPM, blade pitch angle, yaw angle, vibration readings, real-time power generation.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506CE4-5D47-9EA8-97F6-FAE908435B35}"/>
              </a:ext>
            </a:extLst>
          </p:cNvPr>
          <p:cNvSpPr/>
          <p:nvPr/>
        </p:nvSpPr>
        <p:spPr>
          <a:xfrm>
            <a:off x="152401" y="4882551"/>
            <a:ext cx="11887198" cy="17817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t">
              <a:lnSpc>
                <a:spcPct val="100000"/>
              </a:lnSpc>
            </a:pPr>
            <a:r>
              <a:rPr lang="en-IN" dirty="0"/>
              <a:t>.</a:t>
            </a:r>
          </a:p>
          <a:p>
            <a:pPr algn="ctr"/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F407ED-2D27-C4E2-7A56-CCEFA3FB1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497101"/>
              </p:ext>
            </p:extLst>
          </p:nvPr>
        </p:nvGraphicFramePr>
        <p:xfrm>
          <a:off x="6245812" y="96555"/>
          <a:ext cx="5829946" cy="469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73">
                  <a:extLst>
                    <a:ext uri="{9D8B030D-6E8A-4147-A177-3AD203B41FA5}">
                      <a16:colId xmlns:a16="http://schemas.microsoft.com/office/drawing/2014/main" val="3322432459"/>
                    </a:ext>
                  </a:extLst>
                </a:gridCol>
                <a:gridCol w="2914973">
                  <a:extLst>
                    <a:ext uri="{9D8B030D-6E8A-4147-A177-3AD203B41FA5}">
                      <a16:colId xmlns:a16="http://schemas.microsoft.com/office/drawing/2014/main" val="2364721204"/>
                    </a:ext>
                  </a:extLst>
                </a:gridCol>
              </a:tblGrid>
              <a:tr h="573854">
                <a:tc>
                  <a:txBody>
                    <a:bodyPr/>
                    <a:lstStyle/>
                    <a:p>
                      <a:r>
                        <a:rPr lang="en-GB" dirty="0"/>
                        <a:t>USAGE AREA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TECHNOGIES USED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970121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626259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PyTorch, TensorFlow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279962"/>
                  </a:ext>
                </a:extLst>
              </a:tr>
              <a:tr h="67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Physics-Informed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DeepXDE, NVIDIA Modulus (PINNs)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550168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Wind Farm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FLORIS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769919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CFD Simulation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OpenFOAM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63074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024859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Plotly</a:t>
                      </a:r>
                      <a:r>
                        <a:rPr lang="en-IN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, Matplotlib</a:t>
                      </a:r>
                      <a:endParaRPr lang="en-IN" sz="1050" b="0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8989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D12BAD8-697C-0D10-A268-79A6CA1E7328}"/>
              </a:ext>
            </a:extLst>
          </p:cNvPr>
          <p:cNvSpPr txBox="1"/>
          <p:nvPr/>
        </p:nvSpPr>
        <p:spPr>
          <a:xfrm>
            <a:off x="284134" y="4882551"/>
            <a:ext cx="1179162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EXPECTED OUTCOMES</a:t>
            </a:r>
          </a:p>
          <a:p>
            <a:pPr lvl="0" algn="just" fontAlgn="t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Boost hydrogen yield by 15-20%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through wake-aware energy allocation. Reduce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wake-induced power losses by 10-15%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using PINN-based flow optimization. Improve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prediction accuracy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wind-to-hydrogen conversion under dynamic weather conditions. Enable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real-time decision support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turbine operation and electrolyzer scheduling. Lower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computational cost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compared to traditional CFD simulations while maintaining physics consistency.</a:t>
            </a:r>
          </a:p>
        </p:txBody>
      </p:sp>
    </p:spTree>
    <p:extLst>
      <p:ext uri="{BB962C8B-B14F-4D97-AF65-F5344CB8AC3E}">
        <p14:creationId xmlns:p14="http://schemas.microsoft.com/office/powerpoint/2010/main" val="56035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BC7E-CE2E-60FA-F52C-2660CE93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A3AAA-BBA4-7A46-4899-8756C1D7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93728"/>
            <a:ext cx="11772900" cy="102161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GB" sz="3600" b="1" dirty="0">
                <a:solidFill>
                  <a:schemeClr val="accent1">
                    <a:lumMod val="75000"/>
                  </a:schemeClr>
                </a:solidFill>
              </a:rPr>
              <a:t>Project 2: </a:t>
            </a:r>
            <a:r>
              <a:rPr lang="en-GB" sz="3600" b="1" dirty="0" err="1">
                <a:solidFill>
                  <a:schemeClr val="accent1">
                    <a:lumMod val="75000"/>
                  </a:schemeClr>
                </a:solidFill>
              </a:rPr>
              <a:t>MegaAsset-Agentic:Agentic</a:t>
            </a:r>
            <a:r>
              <a:rPr lang="en-GB" sz="3600" b="1" dirty="0">
                <a:solidFill>
                  <a:schemeClr val="accent1">
                    <a:lumMod val="75000"/>
                  </a:schemeClr>
                </a:solidFill>
              </a:rPr>
              <a:t> Graph-RAG for infrastructure Intelligence</a:t>
            </a:r>
            <a:br>
              <a:rPr lang="en-IN" sz="3200" dirty="0"/>
            </a:b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9B2AD6-2409-3195-9C63-C93DA37A7BD0}"/>
              </a:ext>
            </a:extLst>
          </p:cNvPr>
          <p:cNvSpPr/>
          <p:nvPr/>
        </p:nvSpPr>
        <p:spPr>
          <a:xfrm>
            <a:off x="123988" y="1010245"/>
            <a:ext cx="5961678" cy="56540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0762039-F29B-5AA2-4323-4A9D3C2EAD39}"/>
              </a:ext>
            </a:extLst>
          </p:cNvPr>
          <p:cNvSpPr txBox="1">
            <a:spLocks/>
          </p:cNvSpPr>
          <p:nvPr/>
        </p:nvSpPr>
        <p:spPr>
          <a:xfrm>
            <a:off x="203739" y="1010245"/>
            <a:ext cx="5858359" cy="56540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3000" b="1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Large infrastructure projects generate information across project reports, contracts,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maintenance records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incident reports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asset documents 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and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financial records. This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 information is often fragmented different documents and sources, making it difficult to identify connections between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assets, risks, incidents, costs and projects. Manual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 analysis is time-consuming and may overlook important relationship. A unified </a:t>
            </a:r>
            <a:r>
              <a:rPr lang="en-GB" sz="2200" b="1" dirty="0">
                <a:solidFill>
                  <a:schemeClr val="accent1">
                    <a:lumMod val="75000"/>
                  </a:schemeClr>
                </a:solidFill>
              </a:rPr>
              <a:t>Agentic Graph-RAG system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 is proposed to retrieve, connect and reason over infrastructure information.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C82CFA-1FE9-06D3-A60C-F225046DD725}"/>
              </a:ext>
            </a:extLst>
          </p:cNvPr>
          <p:cNvSpPr/>
          <p:nvPr/>
        </p:nvSpPr>
        <p:spPr>
          <a:xfrm>
            <a:off x="6209654" y="1010244"/>
            <a:ext cx="5858358" cy="565402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0E756-F402-61B1-C300-9860F4AD61B1}"/>
              </a:ext>
            </a:extLst>
          </p:cNvPr>
          <p:cNvSpPr txBox="1"/>
          <p:nvPr/>
        </p:nvSpPr>
        <p:spPr>
          <a:xfrm>
            <a:off x="6277459" y="1010245"/>
            <a:ext cx="5829945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1">
                    <a:lumMod val="75000"/>
                  </a:schemeClr>
                </a:solidFill>
              </a:rPr>
              <a:t>OBJECTIVES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To Build a </a:t>
            </a:r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Knowledge Graph 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connecting projects,assets,contractors,incidents, risks and costs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Implemented </a:t>
            </a:r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Graph-RAG 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for context-aware retrieval from structured and unstructured information.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To Develop specialized AI agents for </a:t>
            </a:r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document retrieval ,asset analysis , risk analysis and impact assessment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Use </a:t>
            </a:r>
            <a:r>
              <a:rPr lang="en-GB" sz="2000" b="1" dirty="0" err="1">
                <a:solidFill>
                  <a:schemeClr val="accent1">
                    <a:lumMod val="75000"/>
                  </a:schemeClr>
                </a:solidFill>
              </a:rPr>
              <a:t>LangGraph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 to coordinate agents and generate evidence-based infrastructure insights</a:t>
            </a:r>
            <a:r>
              <a:rPr lang="en-GB" sz="2000" dirty="0"/>
              <a:t>.</a:t>
            </a:r>
          </a:p>
          <a:p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895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2574-B5DD-24C3-1C81-A84518697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BE3A31-307E-11AE-0558-09E5B618F730}"/>
              </a:ext>
            </a:extLst>
          </p:cNvPr>
          <p:cNvSpPr/>
          <p:nvPr/>
        </p:nvSpPr>
        <p:spPr>
          <a:xfrm>
            <a:off x="152401" y="1"/>
            <a:ext cx="5961678" cy="48791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527E836-0DBF-9141-C25B-5652A6566447}"/>
              </a:ext>
            </a:extLst>
          </p:cNvPr>
          <p:cNvSpPr txBox="1">
            <a:spLocks/>
          </p:cNvSpPr>
          <p:nvPr/>
        </p:nvSpPr>
        <p:spPr>
          <a:xfrm>
            <a:off x="284134" y="-30559"/>
            <a:ext cx="5829945" cy="47233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DATASETS</a:t>
            </a:r>
          </a:p>
          <a:p>
            <a:pPr marL="342900" lvl="0" indent="-342900" fontAlgn="t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OpenStreetMap (OSM)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: Road networks, buildings, utility and infrastructure asset locations.</a:t>
            </a:r>
          </a:p>
          <a:p>
            <a:pPr marL="342900" lvl="0" indent="-342900" fontAlgn="t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Infrastructure Asset Records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: Asset IDs, maintenance logs, inspection reports, lifecycle information.</a:t>
            </a:r>
          </a:p>
          <a:p>
            <a:pPr marL="342900" lvl="0" indent="-342900" fontAlgn="t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IoT &amp; Sensor Data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: Equipment status, vibration, temperature, energy consumption, fault alerts.</a:t>
            </a:r>
          </a:p>
          <a:p>
            <a:pPr marL="342900" lvl="0" indent="-342900" fontAlgn="t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Document Repository Data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: Engineering drawings, PDFs, work orders, contracts, and operational manuals for Graph-RAG knowledge retrieval.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48C277-5D0D-2867-6DE5-1EB1FAA1C5F4}"/>
              </a:ext>
            </a:extLst>
          </p:cNvPr>
          <p:cNvSpPr/>
          <p:nvPr/>
        </p:nvSpPr>
        <p:spPr>
          <a:xfrm>
            <a:off x="152401" y="4882551"/>
            <a:ext cx="11887198" cy="17817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t">
              <a:lnSpc>
                <a:spcPct val="100000"/>
              </a:lnSpc>
            </a:pPr>
            <a:r>
              <a:rPr lang="en-IN" dirty="0"/>
              <a:t>.</a:t>
            </a:r>
          </a:p>
          <a:p>
            <a:pPr algn="ctr"/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33333F-B9C6-5FB6-1ABC-EB23E910C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058155"/>
              </p:ext>
            </p:extLst>
          </p:nvPr>
        </p:nvGraphicFramePr>
        <p:xfrm>
          <a:off x="6245812" y="96555"/>
          <a:ext cx="5829946" cy="4758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73">
                  <a:extLst>
                    <a:ext uri="{9D8B030D-6E8A-4147-A177-3AD203B41FA5}">
                      <a16:colId xmlns:a16="http://schemas.microsoft.com/office/drawing/2014/main" val="3322432459"/>
                    </a:ext>
                  </a:extLst>
                </a:gridCol>
                <a:gridCol w="2914973">
                  <a:extLst>
                    <a:ext uri="{9D8B030D-6E8A-4147-A177-3AD203B41FA5}">
                      <a16:colId xmlns:a16="http://schemas.microsoft.com/office/drawing/2014/main" val="2364721204"/>
                    </a:ext>
                  </a:extLst>
                </a:gridCol>
              </a:tblGrid>
              <a:tr h="573854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TECHNOGIES USED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970121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programming</a:t>
                      </a:r>
                      <a:endParaRPr lang="en-IN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Python</a:t>
                      </a:r>
                      <a:endParaRPr lang="en-IN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626259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Agentic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AutoGen, LangGraph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279962"/>
                  </a:ext>
                </a:extLst>
              </a:tr>
              <a:tr h="67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GPT-4 / Azure OpenAI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550168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Graph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Neo4j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769919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Graph-RAG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LangChain, Neo4j GraphRAG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63074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024859"/>
                  </a:ext>
                </a:extLst>
              </a:tr>
              <a:tr h="573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Azure AI Foundry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8989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1C8C50A-EBA8-5B7D-8D0A-32176795AD44}"/>
              </a:ext>
            </a:extLst>
          </p:cNvPr>
          <p:cNvSpPr txBox="1"/>
          <p:nvPr/>
        </p:nvSpPr>
        <p:spPr>
          <a:xfrm>
            <a:off x="350000" y="4912094"/>
            <a:ext cx="1179162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EXPECTED OUTCOMES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Risk Assessment: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Identify high-risk assets likely to fail based on historical maintenance and sensor patterns.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Maintenance Insights: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Recommend preventive maintenance actions before critical breakdowns occur.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Asset Health Monitoring: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Provide real-time visibility into asset condition and performance.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Root Cause Analysis: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Quickly identify causes of operational issues using Graph-RAG</a:t>
            </a:r>
          </a:p>
        </p:txBody>
      </p:sp>
    </p:spTree>
    <p:extLst>
      <p:ext uri="{BB962C8B-B14F-4D97-AF65-F5344CB8AC3E}">
        <p14:creationId xmlns:p14="http://schemas.microsoft.com/office/powerpoint/2010/main" val="1392725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644</Words>
  <Application>Microsoft Office PowerPoint</Application>
  <PresentationFormat>Widescreen</PresentationFormat>
  <Paragraphs>74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Tahoma</vt:lpstr>
      <vt:lpstr>Wingdings</vt:lpstr>
      <vt:lpstr>Office Theme</vt:lpstr>
      <vt:lpstr>PowerPoint Presentation</vt:lpstr>
      <vt:lpstr>Project 1: AeroHydro-PINN : Multimodal Physics-AI for Wake-Aware Hydrogen Optimization</vt:lpstr>
      <vt:lpstr>PowerPoint Presentation</vt:lpstr>
      <vt:lpstr>Project 2: MegaAsset-Agentic:Agentic Graph-RAG for infrastructure Intelligence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S</dc:creator>
  <cp:lastModifiedBy>Swetha S</cp:lastModifiedBy>
  <cp:revision>36</cp:revision>
  <dcterms:created xsi:type="dcterms:W3CDTF">2026-08-28T04:08:06Z</dcterms:created>
  <dcterms:modified xsi:type="dcterms:W3CDTF">2026-08-28T05:43:48Z</dcterms:modified>
</cp:coreProperties>
</file>